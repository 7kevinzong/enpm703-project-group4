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37"/>
    <p:restoredTop sz="57590"/>
  </p:normalViewPr>
  <p:slideViewPr>
    <p:cSldViewPr snapToGrid="0">
      <p:cViewPr varScale="1">
        <p:scale>
          <a:sx n="125" d="100"/>
          <a:sy n="125" d="100"/>
        </p:scale>
        <p:origin x="31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46418-4104-7247-A94B-7514E6B923C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20616-1E18-914B-9634-8343BF7C9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68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89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16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Volatility forecasting is an important component of asset risk management and derivatives pricing in todays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financial markets. It serves as a useful gauge for assessing how much risk an investor is willing to tolerate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and how assets can be combined to diversify a portfolio and maximize returns</a:t>
            </a:r>
          </a:p>
          <a:p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From these inputs, we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compute features such as log returns, the mean and standard deviation of returns, price range volatility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estimators, and volume dynamics.</a:t>
            </a:r>
          </a:p>
          <a:p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58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Yang Zhang estimator tries to address all the prior models limitations by combining overnight volatility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with a weighted average of open-to-close and Rogers-Satchell volatility. This results in a more robust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estimator than the ones previously mentioned</a:t>
            </a:r>
          </a:p>
          <a:p>
            <a:endParaRPr lang="en-US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Realized volatility of log returns over the past window of annualized trading day. Which indicates how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bumpy the price has been on an annual basis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2. Rolling mean, an average log returns over the last window of days. It is a short-term volatility indicator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3. Rolling standard deviation, the standard deviation of log returns over the last window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4. Volume change, the day-over-day percentage change in trading volume. Often a indicator or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confirma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-</a:t>
            </a:r>
          </a:p>
          <a:p>
            <a:pPr>
              <a:buNone/>
            </a:pP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tion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of price moves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5. The prior days log return and volume to add predictive power in the time series model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6. Five and ten day moving averages of log returns as a short term trend indicator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7. Five and ten day un-annualized volatility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8. The change in log return over five days to track momentum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9. Five day rolling standard deviation of log returns as a short-term volatility measure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0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4EA20-3590-C83F-9397-EF259442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DCE130-3932-7C79-4DA0-1F0838F54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3E34A-91F1-7E66-FF94-005AED78A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Because there are so many predictor features, not all will be useful in predicting volatility, in fact some might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be extra noise for the algorithms to parse through. So, a Logistic regression model is trained to measure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which predictors contribute the greatest to predicting volatility</a:t>
            </a:r>
          </a:p>
          <a:p>
            <a:pPr>
              <a:buNone/>
            </a:pP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buNone/>
            </a:pP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From the executed code to rank the coefficients: the features with the greatest predictive coefficients were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Rolling standard deviation, Yang Zhang volatility estimator, five and ten moving averages of log returns,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and five day rolling standard deviation of log returns.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Yang-Zhang volatility estimator being one of the highest contributors is in line with expectations as its key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feature is addressing the shortcoming of the Parkinson, Garman-Klass, and Roger-Satchell estimator of not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having overnight volatility as part of its computation</a:t>
            </a:r>
          </a:p>
          <a:p>
            <a:r>
              <a:rPr lang="en-US" dirty="0"/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D7F12-AEDF-784B-5C99-882434898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02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92D13-B2F0-227B-D25A-8F10D55C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56EED-5D54-2F15-E0FE-8BBEF1A20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A6B65-130D-8C2F-9190-A43C5AA76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To conduct the classification of volatility in the US oil markets, seven models were considered:</a:t>
            </a:r>
          </a:p>
          <a:p>
            <a:pPr>
              <a:buNone/>
            </a:pP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XGBoost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or extreme and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LightGNM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gradient boosting is a gradient boosting algorithm that builds strong learners by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sequentially adding decision tree models to correct previous errors.</a:t>
            </a:r>
          </a:p>
          <a:p>
            <a:endParaRPr lang="en-US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Since each classification tool have different parameters to optimize for, it is best to approach the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experimen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-</a:t>
            </a:r>
          </a:p>
          <a:p>
            <a:pPr>
              <a:buNone/>
            </a:pP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tation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with which parameter maximize classification performance.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To accomplish this, a grid of parameter combinations was created. Firstly, the possible parameters were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specified in a grid and then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GridSearchCV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was used to take every possible parameter combination from the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grid and evaluates it to maximize its area under curve score. Since the data is time sensitive (meaning the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sequence of the data is important in the classification), a time series split was used to respect this ordering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for the cross validation evaluation.</a:t>
            </a:r>
          </a:p>
          <a:p>
            <a:endParaRPr lang="en-US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selected parameters from the grid search suggests that the default setting for models performed best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on the given dataset. For the Decision Tree, a shallow depth of 3 was best, indicating that a small number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of splits was sufficient and deeper trees likely led to overfitting. The Random Forest performed best with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highest number of estimators tested (200), more trees typically reduce overfitting. Logistic Regression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model performed best with default regularization (C=1). The K-Nearest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Neighbors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chose 10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neighbors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,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showing that mores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neighbors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helped reduce sensitivity to noise. For the Support Vector Machine, the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default regularization parameter (C=1) combined with a low gamma (0.01) resulted in a smoother decision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boundary. The dataset is likely reasonably linear or have simple non-linear separation.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XGBoost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performed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best with a small tree depth (3), a moderate learning rate (0.1), and fewer boosting rounds (50).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LightGBM</a:t>
            </a: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selected a very slow learning rate (0.01), more boosting rounds (500), and a smaller number of leaves (31),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meaning that incremental learning with simple structures generalized better. Overall, the results point to a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dataset with enough data to classify well.</a:t>
            </a:r>
          </a:p>
          <a:p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Na¨ıve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bayes is a classifier based on Bayes theorem. It assumes conditional independence between features. It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is extremely fast to train and predict, handles high-dimensional data well, and requires comparatively little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training data.</a:t>
            </a:r>
          </a:p>
          <a:p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FD9A4-0CA7-DF6D-F640-0301186CC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7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38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A4411-F392-D84F-D4C3-EBAE7062B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3AE8B-9D62-2652-AE32-CB2756632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E098F-1499-E5D3-DEB4-DA6198305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ROC AUC plot curve is created by plotting the true positive rate against the false positive rate at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different threshold levels. The shape of the ROC curve provides insight into the performance of each model,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and the area under this curve (AUC) summarizes this performance.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47355-A5B9-8AEB-5C78-FE3421A32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81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19767-2284-A33E-96D2-8E3C02023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BB6EE-58BE-7AB6-0528-852C8AD5A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E2A77-2A12-263C-AC69-4664BC112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AUC value is interpreted as the probability that a randomly chosen positive instance is ranked higher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than a randomly chosen negative instance, which is a useful metric for understanding model performance.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An AUC of 0.5 suggests that the model has no classification power, while an AUC of 1.0 indicates perfect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classification. Values between these extremes indicate varying levels of performance, with higher values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representing better model performance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best performing models are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KNN (AUC: 0.822),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XGBoost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(0.82), and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LightGBM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(0.82). These scores indicate suggest these models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are capturing important patterns in the data.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4D369-C610-F714-DEC8-3D83A57AF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49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B0254-D461-934D-6B1E-09D46452B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CC3F6-2D6E-16DB-DE9A-F6E91402D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050B5-08BB-C2D4-2485-75232212B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Balanced accuracy is used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for imbalanced datasets to account for class distributions</a:t>
            </a:r>
          </a:p>
          <a:p>
            <a:pPr>
              <a:buNone/>
            </a:pP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It compares the training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data to the holdout data (testing data) across each fold. If training and holdout scores are close and high, the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model generalizes well. If they are both low, the model under-fits. If training accuracy is high but holdout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is low, the model overfits. The mean and the standard deviation across scores are calculated as well. High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variance in fold score means the model performance is unstable. Consistently high scores signify a reliable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model. A low mean score indicates a poor performing model.</a:t>
            </a:r>
          </a:p>
          <a:p>
            <a:endParaRPr lang="en-US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 Accuracy: Indicates overall correctness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• Precision: Measures the accuracy of positive predictions, reflecting a models reliability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• Recall: Reflects the model’s sensitivity in identifying all actual instances of a class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• F1-score: Provides a balanced measure between recall and precision, especially useful in scenarios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with imbalanced datasets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KNN significantly underperformed, especially with a poor accuracy score, despite its decent AUC score. In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addition, though it has a low standard deviation across cross validation scores, it consistently underperformed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across each of its folds.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LightGBM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provided a stronger balances between precision and recall, indicating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better generalization and more reliable classification for both classes.</a:t>
            </a:r>
          </a:p>
          <a:p>
            <a:endParaRPr lang="en-US" dirty="0"/>
          </a:p>
          <a:p>
            <a:pPr>
              <a:buNone/>
            </a:pP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XGBoost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has the highest mean balanced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accuracy, indicating it correctly identifies both classes. Though it has a higher standard deviation, it churned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out better accuracy. The cross validation results showed a mean balanced accuracy of 0.71, with some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variability across folds, suggesting that while performance can fluctuate slightly depending on the data split,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model remains generally strong.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F91FF-CE64-7564-E1BB-EBCB25EEB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25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53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93457-1E11-A4C1-774B-6C0286145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BAFA8-5900-ACE4-ADD0-E7545699D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BAF2C-D0DA-0014-C289-E03D0F68C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confusion matrix shows that the model performs well in separating between volatility down and volatility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up. Out of 66 total predictions, it correctly classified 27 instances of volatility down and 18 instances of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volatility up. There were 10 cases where volatility down was misclassified as up and 11 where volatility up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was incorrectly predicted as down.</a:t>
            </a:r>
          </a:p>
          <a:p>
            <a:pPr>
              <a:buNone/>
            </a:pP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model demonstrates slightly better precision and recall when predicting volatility down compared to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volatility up. However, the number of misclassifications is fairly even between both classes. On the January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to April 2025 new data, it achieved an average accuracy, precision, and recall of 0.68, demonstrating some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reliability in generalization.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1F16F-C0C8-5F33-0CCF-161AD74FE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228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468F2-65FA-7580-BB73-047FF557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70B58-02F5-F62F-C1E5-5405B3A62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AFCAE-D7CE-4BE4-70DC-7D86F0672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21D39-07EB-3C67-B267-F99E18EC9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541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F2C77-CE16-AB4F-DBB1-45CE9C76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7169D-D539-E9DD-D3DB-EAE43ED11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035C0-547A-CD28-2BC3-3191BE177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88B9C-9ACD-0008-8528-85CC1A691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34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62EBD-7723-C5BA-CA5B-2BE9C1386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6C0C6-60C5-A3C5-CC89-311AFC79C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A1FB7-907A-A658-8CDD-03C0A6C47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16FB5-6A04-F8AF-DF9E-47C363F56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20616-1E18-914B-9634-8343BF7C92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66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EB93-68B8-F8AC-13B8-1F91D98DE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CA10A-25C3-9492-83F0-042909E75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D0500-0C39-2EA2-9ED4-E7C1E6CDE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C6F0-7829-2144-B33E-7A0840E48EF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C91D6-3F8E-FF29-366C-6FB192F2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B4017-5E03-6452-CEC2-3CE34A9B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2E8ED-D0AE-384A-B250-ADCE48376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D633-DA9A-3D69-1651-0F81C5A9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91B92-550B-708C-37BC-061DD2826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59D7E-2E74-9CCC-FE1D-F899E6E3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C6F0-7829-2144-B33E-7A0840E48EF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B3D53-F1FB-3EF2-EFF7-BB91FA1DB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50D99-915B-E590-4B06-4B8FC9481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2E8ED-D0AE-384A-B250-ADCE48376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8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D2A9-5D0D-D9A5-AD17-1CFED9C68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0D944-C01E-DECC-FD53-6EE9A19CD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A650B-78F7-EDEA-3A6C-4504B99D4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C6F0-7829-2144-B33E-7A0840E48EF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A9E2E-75D2-AF1F-A0F1-676403EAF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2FC48-F9C7-9DDC-2F22-460EB345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2E8ED-D0AE-384A-B250-ADCE48376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07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E3ED3-1D16-C2EE-6226-52AFB0C2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AC457-4C8B-6A83-AEFF-753816597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DF5A8-0D1A-A282-E57B-9AEE4E987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CF691-9692-B2D1-F35B-8051ABC1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C6F0-7829-2144-B33E-7A0840E48EF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C50FD-3570-46AA-ADC4-E45EB97C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655CE-A2D2-1D85-A3BD-C6D04913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2E8ED-D0AE-384A-B250-ADCE48376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9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4E6F4-E767-CA65-3442-A6DD17BEE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409D6-3F61-CABB-220C-586FEB9F3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44211-8874-6D37-440A-6EBF7CC2E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67AB7-3764-6E8A-F16F-6929ABA54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460B8-19E8-3950-76B1-F4259087D8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382883-349B-5840-D907-F41A9D204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C6F0-7829-2144-B33E-7A0840E48EF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A8723-FA32-0880-F3B7-518C4A921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E8F1F7-FAE2-B418-18FB-702A433D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2E8ED-D0AE-384A-B250-ADCE48376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11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083FA-0C55-7EF3-0FE8-C8720968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D6E8B4-03DE-9A32-9E72-FAEB60E3C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C6F0-7829-2144-B33E-7A0840E48EF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E421C-E6FB-7D1A-D6F3-0ECD6C8C5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48A5D-8DC5-9CDE-BBCF-C1FD43DD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2E8ED-D0AE-384A-B250-ADCE48376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3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68604-C9E4-D1E0-7EA0-B13DDBA0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C6F0-7829-2144-B33E-7A0840E48EF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166C6F-9EBE-B6D4-B68F-64FA1C98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74FEB-CA92-58F7-2CC4-C8B36E44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2E8ED-D0AE-384A-B250-ADCE48376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0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769B-A25F-077B-FB52-E66746EFE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E0690-2506-8EFF-E7B8-AC4AB6673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37932-5CA4-C5AA-DA88-DDA887D6B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F4709-3105-606E-F0B8-306F028E3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C6F0-7829-2144-B33E-7A0840E48EF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9AD78-1B4C-E078-EBF3-9315815D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EE64E-2F59-23A0-F548-5A15ADEF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2E8ED-D0AE-384A-B250-ADCE48376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19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E9FE-A78F-5EAE-5C44-DA9528CE7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70F33-75E5-62A2-5C52-918ABDD6A4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93254-DF44-DEEC-B072-8DC86DD11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88EF0-B82D-A7B0-5ECF-B9C22DF0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C6F0-7829-2144-B33E-7A0840E48EF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391CA-6A1B-B0E2-3C80-7F6989EA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BD0C7-C104-282D-EFE9-64AA5ECB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2E8ED-D0AE-384A-B250-ADCE48376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0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DFDF-CD77-C911-C312-0BAE2C12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31B66-60DA-7CDC-B2A3-F244AEEF4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338B9-D6CE-A6B4-80A3-132AA0958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C6F0-7829-2144-B33E-7A0840E48EF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D3977-357C-AABE-5BD9-80D548BA6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9C9B0-3940-2DEE-36C2-57001C73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2E8ED-D0AE-384A-B250-ADCE48376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2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625FAC-0E7A-83DC-92D0-816580CD64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5B5FE-EC66-14E1-502B-8ACFA79D2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AA028-7EBE-9F64-188C-6E084B8F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C6F0-7829-2144-B33E-7A0840E48EF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4410-9958-6BCD-ECE8-785186AA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5784C-96B8-236D-7788-05CE3F1A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2E8ED-D0AE-384A-B250-ADCE48376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23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B65AFF-3F30-AF6F-6C88-1B19E62D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037A8-508C-2F8F-E148-7A0541CEF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5976-A06D-396D-3CF5-4C01A962A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0C6F0-7829-2144-B33E-7A0840E48EF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2EAEA-3F8A-7D71-1CF2-397D93A16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44BE9-2910-3B51-A94F-747DF2DED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2E8ED-D0AE-384A-B250-ADCE48376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8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https://lh7-rt.googleusercontent.com/docsz/AD_4nXdoeRar116v1VpbBmMxzfXH0Zfv6z6ee0BSKGXxO3EsEyZp_3qKuf10056wGMcxtBMYyGvhzQh3xx4O1aDHRoSEtjcW65PYWhs4MMcEvMr584qR7UaXu7Spma6uB4d53dT6-n62?key=FjHXHwgXjSVayRgXlU7cwQ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https://lh7-rt.googleusercontent.com/docsz/AD_4nXdLy9zSESQlqRNJd-6Ee1yhcHRA5wkFSNbU8D8K6rXVzbfxXXtCK4BYaSwcx__LH04X7a8SUDO7VczR4mKaS25rdb8DXdY7Q0hKogBvszOeo_ayaaC4BA-w4hSP3c_s62rY69ZC?key=FjHXHwgXjSVayRgXlU7cwQ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https://lh7-rt.googleusercontent.com/docsz/AD_4nXcwO44NB4WH10W6ikJ7mvf4HcYhQ6mYj9WD_INK2DEwnGNw_dKKLa3bJjURGwo_YGwGRHAZuEXHv5HGDPtugQkSymilQG5OhmHDCO1DcXaBLRBDep9XZGBoEvassl7Jg-w_xcvEqg?key=FjHXHwgXjSVayRgXlU7cwQ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46B57-00C3-7CF2-A64A-0328C01CFA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US Oil markets volatility forecasting to make market decisions</a:t>
            </a:r>
            <a:r>
              <a:rPr lang="en-GB" sz="40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68D8F-C5DE-5AD5-2F48-78E15663AE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Michael</a:t>
            </a:r>
            <a:r>
              <a:rPr lang="en-US" dirty="0"/>
              <a:t> Obajemu</a:t>
            </a:r>
          </a:p>
        </p:txBody>
      </p:sp>
      <p:pic>
        <p:nvPicPr>
          <p:cNvPr id="10" name="Video 13">
            <a:extLst>
              <a:ext uri="{FF2B5EF4-FFF2-40B4-BE49-F238E27FC236}">
                <a16:creationId xmlns:a16="http://schemas.microsoft.com/office/drawing/2014/main" id="{A682B0D7-92AD-9B01-48B5-144801B56076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64428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BD770-B0F9-5916-DEE0-07698F39F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C9D96-8E6C-52DD-CEE7-A49F55079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Summary of the problem, approach, and findings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How the classification models were built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How the models were evaluated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How the models performed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Demo the chosen model to make market decisions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pic>
        <p:nvPicPr>
          <p:cNvPr id="18" name="Video 13">
            <a:extLst>
              <a:ext uri="{FF2B5EF4-FFF2-40B4-BE49-F238E27FC236}">
                <a16:creationId xmlns:a16="http://schemas.microsoft.com/office/drawing/2014/main" id="{A40DC043-6A2C-C1AD-D354-E76356480866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829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84D2D-93EA-56E5-E427-A14D078D1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58A4-5018-2F43-B7A8-A19AAB1AA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This presentation addresses predicting the </a:t>
            </a:r>
            <a:r>
              <a:rPr lang="en-GB" sz="20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volatility changes for the West Texas Intermediate (WTI) crude oil index</a:t>
            </a:r>
            <a:r>
              <a:rPr lang="en-GB" sz="200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futures contract (ticker: CL=F)</a:t>
            </a:r>
          </a:p>
          <a:p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The training data used in this experiment were the daily open, high, low, close, and volume (OHLCV) values from CY24</a:t>
            </a: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Video 13">
            <a:extLst>
              <a:ext uri="{FF2B5EF4-FFF2-40B4-BE49-F238E27FC236}">
                <a16:creationId xmlns:a16="http://schemas.microsoft.com/office/drawing/2014/main" id="{732561EF-BFAA-7A7F-94EC-388DDD817BF4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287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FD6D5-2E8B-67F9-F2E5-901D3B50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Features selected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E95FA6-10F2-9C6D-86BC-F86726DE87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565841"/>
              </p:ext>
            </p:extLst>
          </p:nvPr>
        </p:nvGraphicFramePr>
        <p:xfrm>
          <a:off x="838200" y="1421588"/>
          <a:ext cx="5257800" cy="519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35300188"/>
                    </a:ext>
                  </a:extLst>
                </a:gridCol>
              </a:tblGrid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4733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Parkinsons estimator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134296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Garman-Klass estimator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606872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Rogers-Satchell estimator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427875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Yang-Zhang estimator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119297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Realized volatility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644982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Rolling mean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284922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Rolling standard of deviation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325286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Volume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871310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Prior day log returns &amp; 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91119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Five and ten day moving average of log return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445585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Five and ten day unannualized volatility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930897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Change in log return over five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758241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Five day rolling standard deviation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211189"/>
                  </a:ext>
                </a:extLst>
              </a:tr>
            </a:tbl>
          </a:graphicData>
        </a:graphic>
      </p:graphicFrame>
      <p:pic>
        <p:nvPicPr>
          <p:cNvPr id="14" name="Video 13">
            <a:extLst>
              <a:ext uri="{FF2B5EF4-FFF2-40B4-BE49-F238E27FC236}">
                <a16:creationId xmlns:a16="http://schemas.microsoft.com/office/drawing/2014/main" id="{66CBB51B-FA19-AFDC-3502-36544A24D464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87664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92F40-57B4-E37D-2912-E1514C41F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73AE-9C56-5E88-2B8D-E21B3C28E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Features ranked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B68113-5D91-4E60-B86F-0FC1B8ED22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417841"/>
              </p:ext>
            </p:extLst>
          </p:nvPr>
        </p:nvGraphicFramePr>
        <p:xfrm>
          <a:off x="1956978" y="1403493"/>
          <a:ext cx="3624799" cy="294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168">
                  <a:extLst>
                    <a:ext uri="{9D8B030D-6E8A-4147-A177-3AD203B41FA5}">
                      <a16:colId xmlns:a16="http://schemas.microsoft.com/office/drawing/2014/main" val="435300188"/>
                    </a:ext>
                  </a:extLst>
                </a:gridCol>
                <a:gridCol w="1592631">
                  <a:extLst>
                    <a:ext uri="{9D8B030D-6E8A-4147-A177-3AD203B41FA5}">
                      <a16:colId xmlns:a16="http://schemas.microsoft.com/office/drawing/2014/main" val="3706260732"/>
                    </a:ext>
                  </a:extLst>
                </a:gridCol>
              </a:tblGrid>
              <a:tr h="32718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Coefficients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4733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std_10 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0.818186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04134296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rolling_std 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-0.814477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177606872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std_5 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-0.814477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79427875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volatility_5 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-0.814477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828119297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yang_zhang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0.788453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74644982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ma_10 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0.293861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756284922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log_return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0.196096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61325286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momentum_5 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0.182764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704871310"/>
                  </a:ext>
                </a:extLst>
              </a:tr>
            </a:tbl>
          </a:graphicData>
        </a:graphic>
      </p:graphicFrame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E6A37D80-599E-2366-556E-25F1A36943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6619950"/>
              </p:ext>
            </p:extLst>
          </p:nvPr>
        </p:nvGraphicFramePr>
        <p:xfrm>
          <a:off x="6610223" y="1403493"/>
          <a:ext cx="3624799" cy="294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168">
                  <a:extLst>
                    <a:ext uri="{9D8B030D-6E8A-4147-A177-3AD203B41FA5}">
                      <a16:colId xmlns:a16="http://schemas.microsoft.com/office/drawing/2014/main" val="435300188"/>
                    </a:ext>
                  </a:extLst>
                </a:gridCol>
                <a:gridCol w="1592631">
                  <a:extLst>
                    <a:ext uri="{9D8B030D-6E8A-4147-A177-3AD203B41FA5}">
                      <a16:colId xmlns:a16="http://schemas.microsoft.com/office/drawing/2014/main" val="3706260732"/>
                    </a:ext>
                  </a:extLst>
                </a:gridCol>
              </a:tblGrid>
              <a:tr h="32718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Coefficients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4733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garman_klass 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0.171577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177606872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parkinson_vol 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-0.152569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79427875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volume_lag1 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0.150323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828119297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ma_5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-0.106306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74644982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rolling_mean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-0.106306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756284922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rogers_satchell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-0.068182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61325286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volume_change 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 0.053894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704871310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return_lag1 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0.039189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8439111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A2D7EDF-BFA6-B1AC-D539-3972283D1E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4374326"/>
              </p:ext>
            </p:extLst>
          </p:nvPr>
        </p:nvGraphicFramePr>
        <p:xfrm>
          <a:off x="4283600" y="4805580"/>
          <a:ext cx="3624799" cy="196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168">
                  <a:extLst>
                    <a:ext uri="{9D8B030D-6E8A-4147-A177-3AD203B41FA5}">
                      <a16:colId xmlns:a16="http://schemas.microsoft.com/office/drawing/2014/main" val="435300188"/>
                    </a:ext>
                  </a:extLst>
                </a:gridCol>
                <a:gridCol w="1592631">
                  <a:extLst>
                    <a:ext uri="{9D8B030D-6E8A-4147-A177-3AD203B41FA5}">
                      <a16:colId xmlns:a16="http://schemas.microsoft.com/office/drawing/2014/main" val="3706260732"/>
                    </a:ext>
                  </a:extLst>
                </a:gridCol>
              </a:tblGrid>
              <a:tr h="32718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Coefficients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4733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std_10 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0.818186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04134296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rolling_std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 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-0.814477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177606872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std_5 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-0.814477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79427875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volatility_5 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-0.814477</a:t>
                      </a:r>
                      <a:endParaRPr lang="en-GB" sz="11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828119297"/>
                  </a:ext>
                </a:extLst>
              </a:tr>
              <a:tr h="32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yang_zhang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0.788453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746449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B69AB67-A6D1-B33F-88E4-9A48C760B9E5}"/>
              </a:ext>
            </a:extLst>
          </p:cNvPr>
          <p:cNvSpPr txBox="1"/>
          <p:nvPr/>
        </p:nvSpPr>
        <p:spPr>
          <a:xfrm>
            <a:off x="4425907" y="4436248"/>
            <a:ext cx="334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Features chosen for training </a:t>
            </a:r>
          </a:p>
        </p:txBody>
      </p:sp>
      <p:pic>
        <p:nvPicPr>
          <p:cNvPr id="18" name="Video 13">
            <a:extLst>
              <a:ext uri="{FF2B5EF4-FFF2-40B4-BE49-F238E27FC236}">
                <a16:creationId xmlns:a16="http://schemas.microsoft.com/office/drawing/2014/main" id="{6646A33F-5B17-A68B-4B5D-95D9D92D6C36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7561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2A38F-FE94-0688-7444-85B157FD7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B36BE-E7C8-7646-E076-00A1518E7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Models selected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1B761C-05F5-A20B-28ED-D32FA60ED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701822"/>
              </p:ext>
            </p:extLst>
          </p:nvPr>
        </p:nvGraphicFramePr>
        <p:xfrm>
          <a:off x="1344467" y="1599886"/>
          <a:ext cx="5153678" cy="3597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9">
                  <a:extLst>
                    <a:ext uri="{9D8B030D-6E8A-4147-A177-3AD203B41FA5}">
                      <a16:colId xmlns:a16="http://schemas.microsoft.com/office/drawing/2014/main" val="435300188"/>
                    </a:ext>
                  </a:extLst>
                </a:gridCol>
                <a:gridCol w="2576839">
                  <a:extLst>
                    <a:ext uri="{9D8B030D-6E8A-4147-A177-3AD203B41FA5}">
                      <a16:colId xmlns:a16="http://schemas.microsoft.com/office/drawing/2014/main" val="1616273929"/>
                    </a:ext>
                  </a:extLst>
                </a:gridCol>
              </a:tblGrid>
              <a:tr h="37107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Algorithm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Parameters choices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4733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Max depth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04134296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N-estimators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177606872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Regularization strength C</a:t>
                      </a:r>
                      <a:r>
                        <a:rPr lang="en-GB" sz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79427875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K-nearest neighbor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Neighbors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828119297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Support vector machines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Regularization strength C</a:t>
                      </a:r>
                      <a:r>
                        <a:rPr lang="en-GB" sz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, gamma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74644982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XGBoost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Learning rate, Max depth, N-estimators 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756284922"/>
                  </a:ext>
                </a:extLst>
              </a:tr>
              <a:tr h="371074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LightGBM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Learning rate, N-estimators, number of leaves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613252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C6BF7F-6483-826A-815E-67184AB0675C}"/>
              </a:ext>
            </a:extLst>
          </p:cNvPr>
          <p:cNvSpPr txBox="1"/>
          <p:nvPr/>
        </p:nvSpPr>
        <p:spPr>
          <a:xfrm>
            <a:off x="4642648" y="5235452"/>
            <a:ext cx="191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Baseline models 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7EFF2FF6-F33E-36E6-321F-D010B36053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5439158"/>
              </p:ext>
            </p:extLst>
          </p:nvPr>
        </p:nvGraphicFramePr>
        <p:xfrm>
          <a:off x="4583606" y="5719981"/>
          <a:ext cx="2032168" cy="972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168">
                  <a:extLst>
                    <a:ext uri="{9D8B030D-6E8A-4147-A177-3AD203B41FA5}">
                      <a16:colId xmlns:a16="http://schemas.microsoft.com/office/drawing/2014/main" val="435300188"/>
                    </a:ext>
                  </a:extLst>
                </a:gridCol>
              </a:tblGrid>
              <a:tr h="219567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Algorithm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4733"/>
                  </a:ext>
                </a:extLst>
              </a:tr>
              <a:tr h="1964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Naïve bayes</a:t>
                      </a:r>
                      <a:endParaRPr lang="en-GB" sz="16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04134296"/>
                  </a:ext>
                </a:extLst>
              </a:tr>
              <a:tr h="1964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Linear discriminant analysis</a:t>
                      </a:r>
                      <a:endParaRPr lang="en-GB" sz="16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177606872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711FA9CB-BE4F-03A4-F0B1-1700EE3089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5704673"/>
              </p:ext>
            </p:extLst>
          </p:nvPr>
        </p:nvGraphicFramePr>
        <p:xfrm>
          <a:off x="6498145" y="1599886"/>
          <a:ext cx="3286515" cy="3449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515">
                  <a:extLst>
                    <a:ext uri="{9D8B030D-6E8A-4147-A177-3AD203B41FA5}">
                      <a16:colId xmlns:a16="http://schemas.microsoft.com/office/drawing/2014/main" val="647713230"/>
                    </a:ext>
                  </a:extLst>
                </a:gridCol>
              </a:tblGrid>
              <a:tr h="393107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Best parameter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4733"/>
                  </a:ext>
                </a:extLst>
              </a:tr>
              <a:tr h="393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{'</a:t>
                      </a:r>
                      <a:r>
                        <a:rPr lang="en-US" sz="1200" kern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max_depth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': 3}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04134296"/>
                  </a:ext>
                </a:extLst>
              </a:tr>
              <a:tr h="393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 {'</a:t>
                      </a:r>
                      <a:r>
                        <a:rPr lang="en-US" sz="1200" kern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n_estimators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': 200}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177606872"/>
                  </a:ext>
                </a:extLst>
              </a:tr>
              <a:tr h="393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{'C': 1}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79427875"/>
                  </a:ext>
                </a:extLst>
              </a:tr>
              <a:tr h="393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{'n_neighbors': 10}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828119297"/>
                  </a:ext>
                </a:extLst>
              </a:tr>
              <a:tr h="393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{'C': 1, 'gamma': 0.01}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74644982"/>
                  </a:ext>
                </a:extLst>
              </a:tr>
              <a:tr h="5123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{'</a:t>
                      </a:r>
                      <a:r>
                        <a:rPr lang="en-US" sz="1200" kern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learning_rate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': 0.1, '</a:t>
                      </a:r>
                      <a:r>
                        <a:rPr lang="en-US" sz="1200" kern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max_depth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': 3, '</a:t>
                      </a:r>
                      <a:r>
                        <a:rPr lang="en-US" sz="1200" kern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n_estimators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': 50}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756284922"/>
                  </a:ext>
                </a:extLst>
              </a:tr>
              <a:tr h="5609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{'</a:t>
                      </a:r>
                      <a:r>
                        <a:rPr lang="en-US" sz="1200" kern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learning_rate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': 0.01, '</a:t>
                      </a:r>
                      <a:r>
                        <a:rPr lang="en-US" sz="1200" kern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n_estimators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': 500, '</a:t>
                      </a:r>
                      <a:r>
                        <a:rPr lang="en-US" sz="1200" kern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num_leaves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': 31}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61325286"/>
                  </a:ext>
                </a:extLst>
              </a:tr>
            </a:tbl>
          </a:graphicData>
        </a:graphic>
      </p:graphicFrame>
      <p:pic>
        <p:nvPicPr>
          <p:cNvPr id="17" name="Video 13">
            <a:extLst>
              <a:ext uri="{FF2B5EF4-FFF2-40B4-BE49-F238E27FC236}">
                <a16:creationId xmlns:a16="http://schemas.microsoft.com/office/drawing/2014/main" id="{A925B3DD-A53F-8B8C-6DA1-FFA46A031E1E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2696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133A7-13B4-2BED-ABCE-C834976E2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Evaluating the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0D4BE-056E-6F15-6C24-F3DFB706C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53416"/>
          </a:xfrm>
        </p:spPr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15000"/>
              </a:lnSpc>
              <a:buClr>
                <a:srgbClr val="000000"/>
              </a:buClr>
              <a:buSzPts val="1000"/>
              <a:buFont typeface="Symbol" pitchFamily="2" charset="2"/>
              <a:buChar char=""/>
            </a:pP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`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getScore</a:t>
            </a: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`: Plots a </a:t>
            </a:r>
            <a:r>
              <a:rPr lang="en-US" sz="1800" u="sng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confusion matrix </a:t>
            </a: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and build a </a:t>
            </a:r>
            <a:r>
              <a:rPr lang="en-US" sz="1800" u="sng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classification report </a:t>
            </a: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 each model</a:t>
            </a:r>
            <a:endParaRPr lang="en-GB" sz="1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000000"/>
              </a:buClr>
              <a:buSzPts val="1000"/>
              <a:buFont typeface="Symbol" pitchFamily="2" charset="2"/>
              <a:buChar char=""/>
            </a:pP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`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plotAuc</a:t>
            </a: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`: Plots all models on an </a:t>
            </a:r>
            <a:r>
              <a:rPr lang="en-US" sz="1800" u="sng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ROC AUC </a:t>
            </a: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 compare  their performance to one another</a:t>
            </a:r>
            <a:endParaRPr lang="en-GB" sz="1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rgbClr val="000000"/>
              </a:buClr>
              <a:buSzPts val="1000"/>
              <a:buFont typeface="Symbol" pitchFamily="2" charset="2"/>
              <a:buChar char=""/>
            </a:pP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`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getFit</a:t>
            </a: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`: Score the models on a </a:t>
            </a:r>
            <a:r>
              <a:rPr lang="en-US" sz="1800" u="sng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fitting graph </a:t>
            </a: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and output its </a:t>
            </a:r>
            <a:r>
              <a:rPr lang="en-US" sz="1800" u="sng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cross validation </a:t>
            </a: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per fold, mean, and standard deviation scores</a:t>
            </a:r>
            <a:endParaRPr lang="en-GB" sz="1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12" name="Video 13">
            <a:extLst>
              <a:ext uri="{FF2B5EF4-FFF2-40B4-BE49-F238E27FC236}">
                <a16:creationId xmlns:a16="http://schemas.microsoft.com/office/drawing/2014/main" id="{E7EF1CF1-CA4E-D665-E8D2-400AC22DADC9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00973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3FAD-484C-A6A7-8AB7-38D2E6955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4BFA-1776-40B7-7B4D-7C14AD7B3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Evaluating the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BDCE9-16D0-4B54-F248-EB42265E9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53416"/>
          </a:xfrm>
        </p:spPr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15000"/>
              </a:lnSpc>
              <a:buClr>
                <a:srgbClr val="000000"/>
              </a:buClr>
              <a:buSzPts val="1000"/>
              <a:buFont typeface="Symbol" pitchFamily="2" charset="2"/>
              <a:buChar char=""/>
            </a:pP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`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getScore</a:t>
            </a: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`: Plots a confusion matrix and build a classification report on each model</a:t>
            </a:r>
            <a:endParaRPr lang="en-GB" sz="1800" kern="10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000000"/>
              </a:buClr>
              <a:buSzPts val="1000"/>
              <a:buFont typeface="Symbol" pitchFamily="2" charset="2"/>
              <a:buChar char=""/>
            </a:pP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`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plotAuc</a:t>
            </a: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`: Plots all models on an </a:t>
            </a:r>
            <a:r>
              <a:rPr lang="en-US" sz="1800" b="1" u="sng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ROC AUC </a:t>
            </a: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to compare  their performance to one another</a:t>
            </a:r>
            <a:endParaRPr lang="en-GB" sz="1800" kern="10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rgbClr val="000000"/>
              </a:buClr>
              <a:buSzPts val="1000"/>
              <a:buFont typeface="Symbol" pitchFamily="2" charset="2"/>
              <a:buChar char=""/>
            </a:pP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`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getFit</a:t>
            </a: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`: Score the models on a fitting graph and output its </a:t>
            </a:r>
            <a:r>
              <a:rPr lang="en-US" sz="1800" b="1" u="sng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cross validation </a:t>
            </a:r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per fold, mean, and standard deviation scores</a:t>
            </a:r>
            <a:endParaRPr lang="en-GB" sz="1800" kern="10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Video 13">
            <a:extLst>
              <a:ext uri="{FF2B5EF4-FFF2-40B4-BE49-F238E27FC236}">
                <a16:creationId xmlns:a16="http://schemas.microsoft.com/office/drawing/2014/main" id="{AE499319-6502-AEB5-9A3C-00634AD27B4D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98952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0D27E-2D35-7FEF-EAC5-DFF267ADF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0F0A3-A8AF-D26C-93D0-7353C5E8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Evaluating the algorithms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15AA6BE-B0C1-14B8-C5BA-B637EF9B5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4" y="8598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AFB0CB95-8686-0384-6F37-04FD12206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728" y="1562351"/>
            <a:ext cx="6318544" cy="504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Video 13">
            <a:extLst>
              <a:ext uri="{FF2B5EF4-FFF2-40B4-BE49-F238E27FC236}">
                <a16:creationId xmlns:a16="http://schemas.microsoft.com/office/drawing/2014/main" id="{3D012626-3A5D-384E-458A-C265C461D25C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97028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72B89-D664-5920-62DD-22B65F8B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BD943-034A-EF94-B0CB-73629CA71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Evaluating the algorithms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8C51714-0687-EFA3-AFC2-AA3AAA929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4" y="8598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CA45BE-9C57-70CC-3D24-2DF37EED2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974673"/>
              </p:ext>
            </p:extLst>
          </p:nvPr>
        </p:nvGraphicFramePr>
        <p:xfrm>
          <a:off x="838200" y="5410853"/>
          <a:ext cx="5731512" cy="11488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2878">
                  <a:extLst>
                    <a:ext uri="{9D8B030D-6E8A-4147-A177-3AD203B41FA5}">
                      <a16:colId xmlns:a16="http://schemas.microsoft.com/office/drawing/2014/main" val="820403032"/>
                    </a:ext>
                  </a:extLst>
                </a:gridCol>
                <a:gridCol w="1432878">
                  <a:extLst>
                    <a:ext uri="{9D8B030D-6E8A-4147-A177-3AD203B41FA5}">
                      <a16:colId xmlns:a16="http://schemas.microsoft.com/office/drawing/2014/main" val="2445247346"/>
                    </a:ext>
                  </a:extLst>
                </a:gridCol>
                <a:gridCol w="1432878">
                  <a:extLst>
                    <a:ext uri="{9D8B030D-6E8A-4147-A177-3AD203B41FA5}">
                      <a16:colId xmlns:a16="http://schemas.microsoft.com/office/drawing/2014/main" val="847199151"/>
                    </a:ext>
                  </a:extLst>
                </a:gridCol>
                <a:gridCol w="1432878">
                  <a:extLst>
                    <a:ext uri="{9D8B030D-6E8A-4147-A177-3AD203B41FA5}">
                      <a16:colId xmlns:a16="http://schemas.microsoft.com/office/drawing/2014/main" val="32090911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Accuracy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Macro precision 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Macro recall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70607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KNN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0.55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0.28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0.50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984210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LightGBM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0.70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0.70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0.70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926213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XGBoost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0.74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0.74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0.74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400126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185CF0-7EA7-2AE1-26BA-B4EEF9C4D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970555"/>
              </p:ext>
            </p:extLst>
          </p:nvPr>
        </p:nvGraphicFramePr>
        <p:xfrm>
          <a:off x="838200" y="1554818"/>
          <a:ext cx="5731512" cy="34270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2878">
                  <a:extLst>
                    <a:ext uri="{9D8B030D-6E8A-4147-A177-3AD203B41FA5}">
                      <a16:colId xmlns:a16="http://schemas.microsoft.com/office/drawing/2014/main" val="1732282724"/>
                    </a:ext>
                  </a:extLst>
                </a:gridCol>
                <a:gridCol w="1432878">
                  <a:extLst>
                    <a:ext uri="{9D8B030D-6E8A-4147-A177-3AD203B41FA5}">
                      <a16:colId xmlns:a16="http://schemas.microsoft.com/office/drawing/2014/main" val="3310693651"/>
                    </a:ext>
                  </a:extLst>
                </a:gridCol>
                <a:gridCol w="1432878">
                  <a:extLst>
                    <a:ext uri="{9D8B030D-6E8A-4147-A177-3AD203B41FA5}">
                      <a16:colId xmlns:a16="http://schemas.microsoft.com/office/drawing/2014/main" val="879692188"/>
                    </a:ext>
                  </a:extLst>
                </a:gridCol>
                <a:gridCol w="1432878">
                  <a:extLst>
                    <a:ext uri="{9D8B030D-6E8A-4147-A177-3AD203B41FA5}">
                      <a16:colId xmlns:a16="http://schemas.microsoft.com/office/drawing/2014/main" val="7605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Mean balanced accuracy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Standard deviation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Cross validation scores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076856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KNN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0.6505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0.0246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0.618421052631579, 0.6710526315789473, 0.6228070175438596, 0.672514619883041, 0.6681286549707602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57835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LightGBM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0.6768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0.0536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0.6198830409356726, 0.7529239766081872, 0.72953216374269, 0.6432748538011696, 0.6388888888888888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971155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XGBoost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0.7123</a:t>
                      </a:r>
                      <a:endParaRPr lang="en-GB" sz="1200" kern="10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0.1033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0.5423976608187134, 0.7529239766081872, 0.7032163742690059, 0.7002923976608187, 0.8625730994152047</a:t>
                      </a:r>
                      <a:endParaRPr lang="en-GB" sz="12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92907945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3F776FD3-7DD3-46DE-9449-422A4A23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8855" y="1186519"/>
            <a:ext cx="1003737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3" name="Picture 2" descr="A graph with lines and points&#10;&#10;AI-generated content may be incorrect.">
            <a:extLst>
              <a:ext uri="{FF2B5EF4-FFF2-40B4-BE49-F238E27FC236}">
                <a16:creationId xmlns:a16="http://schemas.microsoft.com/office/drawing/2014/main" id="{BC0A9DE8-E69A-1358-8775-89C56546C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302" y="1438604"/>
            <a:ext cx="4903677" cy="365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Video 13">
            <a:extLst>
              <a:ext uri="{FF2B5EF4-FFF2-40B4-BE49-F238E27FC236}">
                <a16:creationId xmlns:a16="http://schemas.microsoft.com/office/drawing/2014/main" id="{8925C729-583E-FA23-9D02-AC0105C5FD34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9192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1C28-7B02-78D2-C4AF-EF09D7D8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Deploy </a:t>
            </a:r>
            <a:r>
              <a:rPr lang="en-US"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XGBoost</a:t>
            </a:r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 in simulated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FE0CB-29AF-BF24-E998-53A199BFD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Capture testing data from January through April 2025</a:t>
            </a:r>
          </a:p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Recalculate new predictors and target</a:t>
            </a:r>
          </a:p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Get confusion matrix of testing data to track performance</a:t>
            </a:r>
          </a:p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Output a table of predicted volatility movement and confidence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Video 13">
            <a:extLst>
              <a:ext uri="{FF2B5EF4-FFF2-40B4-BE49-F238E27FC236}">
                <a16:creationId xmlns:a16="http://schemas.microsoft.com/office/drawing/2014/main" id="{AE8E76D9-1FF5-3C4B-78AF-BCF5EDEACE1F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0183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A93DA-9C8C-A22F-5460-CFAF234D0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F2CA-1C4E-50FC-65AD-F386A289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XGBoost</a:t>
            </a:r>
            <a:r>
              <a:rPr lang="en-US" sz="3600" dirty="0">
                <a:latin typeface="Segoe UI" panose="020B0502040204020203" pitchFamily="34" charset="0"/>
                <a:cs typeface="Segoe UI" panose="020B0502040204020203" pitchFamily="34" charset="0"/>
              </a:rPr>
              <a:t> performance in simulated environment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A1C1DE7-FE58-F6E9-A8CA-020C24EFC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882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099" name="Picture 1">
            <a:extLst>
              <a:ext uri="{FF2B5EF4-FFF2-40B4-BE49-F238E27FC236}">
                <a16:creationId xmlns:a16="http://schemas.microsoft.com/office/drawing/2014/main" id="{D220F2A4-5CFA-914B-E1F5-153AD5F0E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82775"/>
            <a:ext cx="560070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833AC8-071D-549A-1A57-B01F018CC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945390"/>
              </p:ext>
            </p:extLst>
          </p:nvPr>
        </p:nvGraphicFramePr>
        <p:xfrm>
          <a:off x="6460488" y="2894549"/>
          <a:ext cx="5731512" cy="9141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2878">
                  <a:extLst>
                    <a:ext uri="{9D8B030D-6E8A-4147-A177-3AD203B41FA5}">
                      <a16:colId xmlns:a16="http://schemas.microsoft.com/office/drawing/2014/main" val="1850947464"/>
                    </a:ext>
                  </a:extLst>
                </a:gridCol>
                <a:gridCol w="1432878">
                  <a:extLst>
                    <a:ext uri="{9D8B030D-6E8A-4147-A177-3AD203B41FA5}">
                      <a16:colId xmlns:a16="http://schemas.microsoft.com/office/drawing/2014/main" val="4207145152"/>
                    </a:ext>
                  </a:extLst>
                </a:gridCol>
                <a:gridCol w="1432878">
                  <a:extLst>
                    <a:ext uri="{9D8B030D-6E8A-4147-A177-3AD203B41FA5}">
                      <a16:colId xmlns:a16="http://schemas.microsoft.com/office/drawing/2014/main" val="1550110172"/>
                    </a:ext>
                  </a:extLst>
                </a:gridCol>
                <a:gridCol w="1432878">
                  <a:extLst>
                    <a:ext uri="{9D8B030D-6E8A-4147-A177-3AD203B41FA5}">
                      <a16:colId xmlns:a16="http://schemas.microsoft.com/office/drawing/2014/main" val="1263536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GB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precision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recall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f1-score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55740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Volatility down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</a:rPr>
                        <a:t>0.71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0.73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0.72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23774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Volatility up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0.64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0.62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</a:rPr>
                        <a:t>0.63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3406320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B9ECEC1-F3D8-486D-630B-68A9CAD69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652102"/>
              </p:ext>
            </p:extLst>
          </p:nvPr>
        </p:nvGraphicFramePr>
        <p:xfrm>
          <a:off x="6438900" y="4677188"/>
          <a:ext cx="5731510" cy="8808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5755">
                  <a:extLst>
                    <a:ext uri="{9D8B030D-6E8A-4147-A177-3AD203B41FA5}">
                      <a16:colId xmlns:a16="http://schemas.microsoft.com/office/drawing/2014/main" val="641266475"/>
                    </a:ext>
                  </a:extLst>
                </a:gridCol>
                <a:gridCol w="2865755">
                  <a:extLst>
                    <a:ext uri="{9D8B030D-6E8A-4147-A177-3AD203B41FA5}">
                      <a16:colId xmlns:a16="http://schemas.microsoft.com/office/drawing/2014/main" val="31518708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</a:rPr>
                        <a:t>Accuracy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0" kern="0" dirty="0">
                          <a:solidFill>
                            <a:schemeClr val="tx1"/>
                          </a:solidFill>
                          <a:effectLst/>
                        </a:rPr>
                        <a:t>0.68</a:t>
                      </a:r>
                      <a:endParaRPr lang="en-GB" sz="12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21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Precision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</a:rPr>
                        <a:t>0.68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15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Recall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</a:rPr>
                        <a:t>0.68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034316"/>
                  </a:ext>
                </a:extLst>
              </a:tr>
            </a:tbl>
          </a:graphicData>
        </a:graphic>
      </p:graphicFrame>
      <p:pic>
        <p:nvPicPr>
          <p:cNvPr id="3" name="Video 13">
            <a:extLst>
              <a:ext uri="{FF2B5EF4-FFF2-40B4-BE49-F238E27FC236}">
                <a16:creationId xmlns:a16="http://schemas.microsoft.com/office/drawing/2014/main" id="{5FF4A75D-7016-0E97-C2AF-0A6737EF45D4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9476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B063-93C5-E397-1FFC-BCCDDFA63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9F111-C0D9-CE62-7150-A38F61E26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Deploy </a:t>
            </a:r>
            <a:r>
              <a:rPr lang="en-US"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XGBoost</a:t>
            </a:r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 in simulated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93136-A488-7609-332D-91C989B4F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</a:t>
            </a:r>
            <a:r>
              <a:rPr lang="en-GB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onsider the following scenario:</a:t>
            </a:r>
          </a:p>
          <a:p>
            <a:pPr lvl="1"/>
            <a:r>
              <a:rPr lang="en-GB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It is </a:t>
            </a:r>
            <a:r>
              <a:rPr lang="en-GB" sz="1800" u="sng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December 2024 </a:t>
            </a:r>
            <a:r>
              <a:rPr lang="en-GB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and we are employees in a small hedge fund.</a:t>
            </a:r>
          </a:p>
          <a:p>
            <a:pPr lvl="1"/>
            <a:r>
              <a:rPr lang="en-GB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The fund wants to adjust its options exposure to West Texas Intermediate (WTI) by monitoring the corresponding futures contracts.</a:t>
            </a:r>
          </a:p>
          <a:p>
            <a:pPr lvl="1"/>
            <a:r>
              <a:rPr lang="en-GB" sz="18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We have </a:t>
            </a:r>
            <a:r>
              <a:rPr lang="en-GB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 </a:t>
            </a:r>
            <a:r>
              <a:rPr lang="en-GB" sz="1800" u="sng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maximum budget of $100,000 per day </a:t>
            </a:r>
            <a:r>
              <a:rPr lang="en-GB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of trading, scaled according to the confidence of the volatility prediction using Kelly-type sizing.</a:t>
            </a:r>
          </a:p>
          <a:p>
            <a:pPr lvl="1"/>
            <a:r>
              <a:rPr lang="en-GB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We've set our threshold for going long (+1) or short (–1) if the predicted probability of a volatility increase/decrease exceeds 0.8 and 0.7 accordingly.</a:t>
            </a:r>
            <a:endParaRPr lang="en-GB" sz="18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Video 13">
            <a:extLst>
              <a:ext uri="{FF2B5EF4-FFF2-40B4-BE49-F238E27FC236}">
                <a16:creationId xmlns:a16="http://schemas.microsoft.com/office/drawing/2014/main" id="{683DFE7B-B64F-FD4C-874A-E57788903046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9937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C787-1066-0434-8798-D8B7EB58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044B-7F38-F567-BA9E-2E0B0BFAB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Deploy </a:t>
            </a:r>
            <a:r>
              <a:rPr lang="en-US"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XGBoost</a:t>
            </a:r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 in simulated environment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DF4467-B83D-D885-6BBE-FF661222D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456366"/>
              </p:ext>
            </p:extLst>
          </p:nvPr>
        </p:nvGraphicFramePr>
        <p:xfrm>
          <a:off x="1842586" y="2099516"/>
          <a:ext cx="7828253" cy="36849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4767">
                  <a:extLst>
                    <a:ext uri="{9D8B030D-6E8A-4147-A177-3AD203B41FA5}">
                      <a16:colId xmlns:a16="http://schemas.microsoft.com/office/drawing/2014/main" val="1732282724"/>
                    </a:ext>
                  </a:extLst>
                </a:gridCol>
                <a:gridCol w="1064767">
                  <a:extLst>
                    <a:ext uri="{9D8B030D-6E8A-4147-A177-3AD203B41FA5}">
                      <a16:colId xmlns:a16="http://schemas.microsoft.com/office/drawing/2014/main" val="3310693651"/>
                    </a:ext>
                  </a:extLst>
                </a:gridCol>
                <a:gridCol w="1064767">
                  <a:extLst>
                    <a:ext uri="{9D8B030D-6E8A-4147-A177-3AD203B41FA5}">
                      <a16:colId xmlns:a16="http://schemas.microsoft.com/office/drawing/2014/main" val="879692188"/>
                    </a:ext>
                  </a:extLst>
                </a:gridCol>
                <a:gridCol w="1064767">
                  <a:extLst>
                    <a:ext uri="{9D8B030D-6E8A-4147-A177-3AD203B41FA5}">
                      <a16:colId xmlns:a16="http://schemas.microsoft.com/office/drawing/2014/main" val="7605203"/>
                    </a:ext>
                  </a:extLst>
                </a:gridCol>
                <a:gridCol w="1261991">
                  <a:extLst>
                    <a:ext uri="{9D8B030D-6E8A-4147-A177-3AD203B41FA5}">
                      <a16:colId xmlns:a16="http://schemas.microsoft.com/office/drawing/2014/main" val="720299814"/>
                    </a:ext>
                  </a:extLst>
                </a:gridCol>
                <a:gridCol w="867543">
                  <a:extLst>
                    <a:ext uri="{9D8B030D-6E8A-4147-A177-3AD203B41FA5}">
                      <a16:colId xmlns:a16="http://schemas.microsoft.com/office/drawing/2014/main" val="625176376"/>
                    </a:ext>
                  </a:extLst>
                </a:gridCol>
                <a:gridCol w="1439651">
                  <a:extLst>
                    <a:ext uri="{9D8B030D-6E8A-4147-A177-3AD203B41FA5}">
                      <a16:colId xmlns:a16="http://schemas.microsoft.com/office/drawing/2014/main" val="4092984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Date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Volatility down 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Volatility up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Max Prob</a:t>
                      </a:r>
                      <a:endParaRPr lang="en-GB" sz="11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Volatility</a:t>
                      </a:r>
                      <a:r>
                        <a:rPr lang="en-GB" sz="11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pred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Signal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Order size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076856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18/03/2025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0.560455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0.43954498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0.560455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Down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 Trade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 trade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835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19/03/2025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0.19774407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0.8022559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0.8022559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60451.18570327759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8538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20/03/2025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0.2408874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0.7591126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0.7591126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 Trade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 trade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1564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21/03/2025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0.09110236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0.90889764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0.90889764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81779.52766418457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332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24/03/2025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0.17945278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0.8205472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0.8205472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64109.4446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85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25/03/2025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0.05263597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0.94736403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0.94736403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89472.80645370483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68180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26/03/2025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0.04036707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0.95963293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0.95963293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91926.5866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05227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27/03/2025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0.04036707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0.95963293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0.95963293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91926.5866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3689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28/03/2025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0.04036707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0.95963293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0.95963293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91926.5866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3886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31/03/2025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0.31573945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0.68426055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0.68426055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 Trade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 trade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1422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01/04/2025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0.774837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0.22516295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0.774837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Down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54967.403411865234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6967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02/04/2025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0.20688105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0.79311895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0.79311895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 Trade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 trade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85743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03/04/2025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0.9490281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0.05097191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0.9490281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Down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89805.6149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084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04/04/2025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0.96998173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0.0300183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0.96998173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Down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93996.34599685669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19930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07/04/2025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0.96998173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0.0300183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0.96998173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Down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93996.34599685669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268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08/04/2025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0.96998173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0.0300183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0.96998173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Down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93996.34599685669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3057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09/04/2025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0.96998173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0.0300183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0.96998173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Down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93996.34599685669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1155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10/04/2025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0.96998173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0.0300183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0.96998173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Down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93996.34599685669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2907945"/>
                  </a:ext>
                </a:extLst>
              </a:tr>
            </a:tbl>
          </a:graphicData>
        </a:graphic>
      </p:graphicFrame>
      <p:pic>
        <p:nvPicPr>
          <p:cNvPr id="3" name="Video 13">
            <a:extLst>
              <a:ext uri="{FF2B5EF4-FFF2-40B4-BE49-F238E27FC236}">
                <a16:creationId xmlns:a16="http://schemas.microsoft.com/office/drawing/2014/main" id="{9C8BD78B-1397-7925-8E8F-280368121073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78303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034D-B44D-26CD-2A42-DC87896F0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A40A-D8C6-6FCC-F343-8DF36567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953A9-ED69-87D4-8DFA-01D190DAC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Short-term volatility indicators like 5-day and 10-day rolling std deviations, and Yang-Zhang estimator, were the strongest predictors for near term volatility.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Nonlinear boosting models (</a:t>
            </a:r>
            <a:r>
              <a:rPr lang="en-GB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XGBoost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GB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LightGBM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) outperformed traditional linear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Volatility forecasting with machine learning is a key for enabling investors to trade and price options more 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Possible future improvements include adding macro factors and high-frequency data to enhance the model. 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Video 13">
            <a:extLst>
              <a:ext uri="{FF2B5EF4-FFF2-40B4-BE49-F238E27FC236}">
                <a16:creationId xmlns:a16="http://schemas.microsoft.com/office/drawing/2014/main" id="{87DB60A5-FBA4-FB56-440A-FD9C3F77B726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4217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4.8|2.4|2.2|6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2370</Words>
  <Application>Microsoft Macintosh PowerPoint</Application>
  <PresentationFormat>Widescreen</PresentationFormat>
  <Paragraphs>443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Helvetica</vt:lpstr>
      <vt:lpstr>Segoe UI</vt:lpstr>
      <vt:lpstr>Symbol</vt:lpstr>
      <vt:lpstr>Office Theme</vt:lpstr>
      <vt:lpstr>US Oil markets volatility forecasting to make market decisions </vt:lpstr>
      <vt:lpstr>Agenda</vt:lpstr>
      <vt:lpstr>Introduction</vt:lpstr>
      <vt:lpstr>Features selected</vt:lpstr>
      <vt:lpstr>Features ranked</vt:lpstr>
      <vt:lpstr>Models selected</vt:lpstr>
      <vt:lpstr>Evaluating the algorithms</vt:lpstr>
      <vt:lpstr>Evaluating the algorithms</vt:lpstr>
      <vt:lpstr>Evaluating the algorithms</vt:lpstr>
      <vt:lpstr>Evaluating the algorithms</vt:lpstr>
      <vt:lpstr>Deploy XGBoost in simulated environment</vt:lpstr>
      <vt:lpstr>XGBoost performance in simulated environment</vt:lpstr>
      <vt:lpstr>Deploy XGBoost in simulated environment</vt:lpstr>
      <vt:lpstr>Deploy XGBoost in simulated environment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Obajemu</dc:creator>
  <cp:lastModifiedBy>Michael Obajemu</cp:lastModifiedBy>
  <cp:revision>5</cp:revision>
  <dcterms:created xsi:type="dcterms:W3CDTF">2025-05-11T04:52:28Z</dcterms:created>
  <dcterms:modified xsi:type="dcterms:W3CDTF">2025-05-12T06:02:33Z</dcterms:modified>
</cp:coreProperties>
</file>